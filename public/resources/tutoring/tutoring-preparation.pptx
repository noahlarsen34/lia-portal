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PT Sans Narrow"/>
      <p:regular r:id="rId17"/>
      <p:bold r:id="rId18"/>
    </p:embeddedFont>
    <p:embeddedFont>
      <p:font typeface="Open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bold.fntdata"/><Relationship Id="rId11" Type="http://schemas.openxmlformats.org/officeDocument/2006/relationships/slide" Target="slides/slide6.xml"/><Relationship Id="rId22" Type="http://schemas.openxmlformats.org/officeDocument/2006/relationships/font" Target="fonts/OpenSans-boldItalic.fntdata"/><Relationship Id="rId10" Type="http://schemas.openxmlformats.org/officeDocument/2006/relationships/slide" Target="slides/slide5.xml"/><Relationship Id="rId21" Type="http://schemas.openxmlformats.org/officeDocument/2006/relationships/font" Target="fonts/OpenSans-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TSansNarrow-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penSans-regular.fntdata"/><Relationship Id="rId6" Type="http://schemas.openxmlformats.org/officeDocument/2006/relationships/slide" Target="slides/slide1.xml"/><Relationship Id="rId18" Type="http://schemas.openxmlformats.org/officeDocument/2006/relationships/font" Target="fonts/PTSansNarrow-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afd460066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afd460066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fafd460066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fafd460066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afd460066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afd460066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afd460066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afd460066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afd460066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afd46006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afd46006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afd46006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afd46006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afd46006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fafd46006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fafd46006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afd460066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afd460066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afd460066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afd460066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lvl1pPr indent="-419100" lvl="0" marL="457200">
              <a:spcBef>
                <a:spcPts val="0"/>
              </a:spcBef>
              <a:spcAft>
                <a:spcPts val="0"/>
              </a:spcAft>
              <a:buSzPts val="3000"/>
              <a:buChar char="●"/>
              <a:defRPr sz="3000"/>
            </a:lvl1pPr>
            <a:lvl2pPr indent="-419100" lvl="1" marL="914400">
              <a:spcBef>
                <a:spcPts val="0"/>
              </a:spcBef>
              <a:spcAft>
                <a:spcPts val="0"/>
              </a:spcAft>
              <a:buSzPts val="3000"/>
              <a:buChar char="○"/>
              <a:defRPr sz="3000"/>
            </a:lvl2pPr>
            <a:lvl3pPr indent="-419100" lvl="2" marL="1371600">
              <a:spcBef>
                <a:spcPts val="0"/>
              </a:spcBef>
              <a:spcAft>
                <a:spcPts val="0"/>
              </a:spcAft>
              <a:buSzPts val="3000"/>
              <a:buChar char="■"/>
              <a:defRPr sz="3000"/>
            </a:lvl3pPr>
            <a:lvl4pPr indent="-419100" lvl="3" marL="1828800">
              <a:spcBef>
                <a:spcPts val="0"/>
              </a:spcBef>
              <a:spcAft>
                <a:spcPts val="0"/>
              </a:spcAft>
              <a:buSzPts val="3000"/>
              <a:buChar char="●"/>
              <a:defRPr sz="3000"/>
            </a:lvl4pPr>
            <a:lvl5pPr indent="-419100" lvl="4" marL="2286000">
              <a:spcBef>
                <a:spcPts val="0"/>
              </a:spcBef>
              <a:spcAft>
                <a:spcPts val="0"/>
              </a:spcAft>
              <a:buSzPts val="3000"/>
              <a:buChar char="○"/>
              <a:defRPr sz="3000"/>
            </a:lvl5pPr>
            <a:lvl6pPr indent="-419100" lvl="5" marL="2743200">
              <a:spcBef>
                <a:spcPts val="0"/>
              </a:spcBef>
              <a:spcAft>
                <a:spcPts val="0"/>
              </a:spcAft>
              <a:buSzPts val="3000"/>
              <a:buChar char="■"/>
              <a:defRPr sz="3000"/>
            </a:lvl6pPr>
            <a:lvl7pPr indent="-419100" lvl="6" marL="3200400">
              <a:spcBef>
                <a:spcPts val="0"/>
              </a:spcBef>
              <a:spcAft>
                <a:spcPts val="0"/>
              </a:spcAft>
              <a:buSzPts val="3000"/>
              <a:buChar char="●"/>
              <a:defRPr sz="3000"/>
            </a:lvl7pPr>
            <a:lvl8pPr indent="-419100" lvl="7" marL="3657600">
              <a:spcBef>
                <a:spcPts val="0"/>
              </a:spcBef>
              <a:spcAft>
                <a:spcPts val="0"/>
              </a:spcAft>
              <a:buSzPts val="3000"/>
              <a:buChar char="○"/>
              <a:defRPr sz="3000"/>
            </a:lvl8pPr>
            <a:lvl9pPr indent="-419100" lvl="8" marL="4114800">
              <a:spcBef>
                <a:spcPts val="0"/>
              </a:spcBef>
              <a:spcAft>
                <a:spcPts val="0"/>
              </a:spcAft>
              <a:buSzPts val="3000"/>
              <a:buChar char="■"/>
              <a:defRPr sz="3000"/>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Tutoring Preparation</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Gallery Walk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this important?</a:t>
            </a:r>
            <a:endParaRPr/>
          </a:p>
        </p:txBody>
      </p:sp>
      <p:sp>
        <p:nvSpPr>
          <p:cNvPr id="73" name="Google Shape;73;p14"/>
          <p:cNvSpPr txBox="1"/>
          <p:nvPr>
            <p:ph idx="1" type="body"/>
          </p:nvPr>
        </p:nvSpPr>
        <p:spPr>
          <a:xfrm>
            <a:off x="311700" y="1266325"/>
            <a:ext cx="8520600" cy="3710700"/>
          </a:xfrm>
          <a:prstGeom prst="rect">
            <a:avLst/>
          </a:prstGeom>
        </p:spPr>
        <p:txBody>
          <a:bodyPr anchorCtr="0" anchor="t" bIns="91425" lIns="91425" spcFirstLastPara="1" rIns="91425" wrap="square" tIns="91425">
            <a:noAutofit/>
          </a:bodyPr>
          <a:lstStyle/>
          <a:p>
            <a:pPr indent="0" lvl="0" marL="0" rtl="0" algn="l">
              <a:lnSpc>
                <a:spcPct val="175000"/>
              </a:lnSpc>
              <a:spcBef>
                <a:spcPts val="1200"/>
              </a:spcBef>
              <a:spcAft>
                <a:spcPts val="0"/>
              </a:spcAft>
              <a:buNone/>
            </a:pPr>
            <a:r>
              <a:rPr lang="en"/>
              <a:t>T</a:t>
            </a:r>
            <a:r>
              <a:rPr lang="en"/>
              <a:t>he purpose of this lesson is to understand what we like about reading so that we can share that with younger students, what is the purpose of reading, and how we break down reading strategies.</a:t>
            </a:r>
            <a:endParaRPr sz="12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110150"/>
            <a:ext cx="8520600" cy="104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Reading Memories</a:t>
            </a:r>
            <a:endParaRPr sz="4800"/>
          </a:p>
        </p:txBody>
      </p:sp>
      <p:sp>
        <p:nvSpPr>
          <p:cNvPr id="79" name="Google Shape;79;p15"/>
          <p:cNvSpPr txBox="1"/>
          <p:nvPr>
            <p:ph idx="1" type="body"/>
          </p:nvPr>
        </p:nvSpPr>
        <p:spPr>
          <a:xfrm>
            <a:off x="239875" y="1304750"/>
            <a:ext cx="4146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Turn to a partner and share:</a:t>
            </a:r>
            <a:endParaRPr/>
          </a:p>
          <a:p>
            <a:pPr indent="-419100" lvl="0" marL="457200" rtl="0" algn="l">
              <a:spcBef>
                <a:spcPts val="1200"/>
              </a:spcBef>
              <a:spcAft>
                <a:spcPts val="0"/>
              </a:spcAft>
              <a:buSzPts val="3000"/>
              <a:buAutoNum type="arabicPeriod"/>
            </a:pPr>
            <a:r>
              <a:rPr lang="en"/>
              <a:t>Who taught you how to read?</a:t>
            </a:r>
            <a:endParaRPr/>
          </a:p>
          <a:p>
            <a:pPr indent="-419100" lvl="0" marL="457200" rtl="0" algn="l">
              <a:spcBef>
                <a:spcPts val="0"/>
              </a:spcBef>
              <a:spcAft>
                <a:spcPts val="0"/>
              </a:spcAft>
              <a:buSzPts val="3000"/>
              <a:buAutoNum type="arabicPeriod"/>
            </a:pPr>
            <a:r>
              <a:rPr lang="en"/>
              <a:t>Your favorite book as a child.</a:t>
            </a:r>
            <a:endParaRPr/>
          </a:p>
        </p:txBody>
      </p:sp>
      <p:pic>
        <p:nvPicPr>
          <p:cNvPr descr="a baby in a diaper sits on the floor reading a book with the word elle on the bottom (Provided by Tenor)" id="80" name="Google Shape;80;p15"/>
          <p:cNvPicPr preferRelativeResize="0"/>
          <p:nvPr/>
        </p:nvPicPr>
        <p:blipFill>
          <a:blip r:embed="rId3">
            <a:alphaModFix/>
          </a:blip>
          <a:stretch>
            <a:fillRect/>
          </a:stretch>
        </p:blipFill>
        <p:spPr>
          <a:xfrm>
            <a:off x="4539175" y="1304750"/>
            <a:ext cx="4452425" cy="2834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110150"/>
            <a:ext cx="8520600" cy="104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Reading Now</a:t>
            </a:r>
            <a:endParaRPr sz="4800"/>
          </a:p>
        </p:txBody>
      </p:sp>
      <p:sp>
        <p:nvSpPr>
          <p:cNvPr id="86" name="Google Shape;86;p16"/>
          <p:cNvSpPr txBox="1"/>
          <p:nvPr>
            <p:ph idx="1" type="body"/>
          </p:nvPr>
        </p:nvSpPr>
        <p:spPr>
          <a:xfrm>
            <a:off x="239875" y="1152350"/>
            <a:ext cx="4146900" cy="345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Turn to a partner and share:</a:t>
            </a:r>
            <a:endParaRPr/>
          </a:p>
          <a:p>
            <a:pPr indent="-419100" lvl="0" marL="457200" rtl="0" algn="l">
              <a:spcBef>
                <a:spcPts val="1200"/>
              </a:spcBef>
              <a:spcAft>
                <a:spcPts val="0"/>
              </a:spcAft>
              <a:buSzPts val="3000"/>
              <a:buAutoNum type="arabicPeriod"/>
            </a:pPr>
            <a:r>
              <a:rPr lang="en"/>
              <a:t>What is your favorite book/author now?</a:t>
            </a:r>
            <a:endParaRPr/>
          </a:p>
          <a:p>
            <a:pPr indent="-419100" lvl="0" marL="457200" rtl="0" algn="l">
              <a:spcBef>
                <a:spcPts val="0"/>
              </a:spcBef>
              <a:spcAft>
                <a:spcPts val="0"/>
              </a:spcAft>
              <a:buSzPts val="3000"/>
              <a:buAutoNum type="arabicPeriod"/>
            </a:pPr>
            <a:r>
              <a:rPr lang="en"/>
              <a:t>Who do you read to?</a:t>
            </a:r>
            <a:endParaRPr/>
          </a:p>
        </p:txBody>
      </p:sp>
      <p:pic>
        <p:nvPicPr>
          <p:cNvPr descr="a cartoon of a wizard holding a wand and a purple pot (Provided by Tenor)" id="87" name="Google Shape;87;p16"/>
          <p:cNvPicPr preferRelativeResize="0"/>
          <p:nvPr/>
        </p:nvPicPr>
        <p:blipFill>
          <a:blip r:embed="rId3">
            <a:alphaModFix/>
          </a:blip>
          <a:stretch>
            <a:fillRect/>
          </a:stretch>
        </p:blipFill>
        <p:spPr>
          <a:xfrm>
            <a:off x="4539175" y="1304750"/>
            <a:ext cx="4452425" cy="29772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110150"/>
            <a:ext cx="8520600" cy="1042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Roles &amp; Responsibilities of Effective Tutors</a:t>
            </a:r>
            <a:endParaRPr sz="4800"/>
          </a:p>
        </p:txBody>
      </p:sp>
      <p:sp>
        <p:nvSpPr>
          <p:cNvPr id="93" name="Google Shape;93;p17"/>
          <p:cNvSpPr txBox="1"/>
          <p:nvPr>
            <p:ph idx="1" type="body"/>
          </p:nvPr>
        </p:nvSpPr>
        <p:spPr>
          <a:xfrm>
            <a:off x="239875" y="1688400"/>
            <a:ext cx="4146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skills do you need to become an effective tutor in helping your tutee further develop their reading skills?</a:t>
            </a:r>
            <a:r>
              <a:rPr lang="en">
                <a:solidFill>
                  <a:srgbClr val="000000"/>
                </a:solidFill>
                <a:latin typeface="Arial"/>
                <a:ea typeface="Arial"/>
                <a:cs typeface="Arial"/>
                <a:sym typeface="Arial"/>
              </a:rPr>
              <a:t> </a:t>
            </a:r>
            <a:endParaRPr/>
          </a:p>
        </p:txBody>
      </p:sp>
      <p:pic>
        <p:nvPicPr>
          <p:cNvPr id="94" name="Google Shape;94;p17"/>
          <p:cNvPicPr preferRelativeResize="0"/>
          <p:nvPr/>
        </p:nvPicPr>
        <p:blipFill>
          <a:blip r:embed="rId3">
            <a:alphaModFix/>
          </a:blip>
          <a:stretch>
            <a:fillRect/>
          </a:stretch>
        </p:blipFill>
        <p:spPr>
          <a:xfrm>
            <a:off x="4611000" y="1304825"/>
            <a:ext cx="3686275" cy="3686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Gallery Walk </a:t>
            </a:r>
            <a:endParaRPr/>
          </a:p>
        </p:txBody>
      </p:sp>
      <p:sp>
        <p:nvSpPr>
          <p:cNvPr id="100" name="Google Shape;100;p18"/>
          <p:cNvSpPr txBox="1"/>
          <p:nvPr>
            <p:ph idx="1" type="body"/>
          </p:nvPr>
        </p:nvSpPr>
        <p:spPr>
          <a:xfrm>
            <a:off x="311700" y="1266325"/>
            <a:ext cx="5089500" cy="33027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AutoNum type="arabicPeriod"/>
            </a:pPr>
            <a:r>
              <a:rPr lang="en"/>
              <a:t>Students walk around to </a:t>
            </a:r>
            <a:r>
              <a:rPr lang="en"/>
              <a:t>different posters.</a:t>
            </a:r>
            <a:endParaRPr/>
          </a:p>
          <a:p>
            <a:pPr indent="-419100" lvl="0" marL="457200" rtl="0" algn="l">
              <a:spcBef>
                <a:spcPts val="0"/>
              </a:spcBef>
              <a:spcAft>
                <a:spcPts val="0"/>
              </a:spcAft>
              <a:buSzPts val="3000"/>
              <a:buAutoNum type="arabicPeriod"/>
            </a:pPr>
            <a:r>
              <a:rPr lang="en"/>
              <a:t>Write new ideas on each poster.</a:t>
            </a:r>
            <a:endParaRPr/>
          </a:p>
          <a:p>
            <a:pPr indent="-419100" lvl="0" marL="457200" rtl="0" algn="l">
              <a:spcBef>
                <a:spcPts val="0"/>
              </a:spcBef>
              <a:spcAft>
                <a:spcPts val="0"/>
              </a:spcAft>
              <a:buSzPts val="3000"/>
              <a:buAutoNum type="arabicPeriod"/>
            </a:pPr>
            <a:r>
              <a:rPr lang="en"/>
              <a:t>Read what other students wrote.</a:t>
            </a:r>
            <a:endParaRPr/>
          </a:p>
        </p:txBody>
      </p:sp>
      <p:pic>
        <p:nvPicPr>
          <p:cNvPr descr="a cartoon girl is standing in a museum looking at pictures . (Provided by Tenor)" id="101" name="Google Shape;101;p18"/>
          <p:cNvPicPr preferRelativeResize="0"/>
          <p:nvPr/>
        </p:nvPicPr>
        <p:blipFill>
          <a:blip r:embed="rId3">
            <a:alphaModFix/>
          </a:blip>
          <a:stretch>
            <a:fillRect/>
          </a:stretch>
        </p:blipFill>
        <p:spPr>
          <a:xfrm>
            <a:off x="5401200" y="2571750"/>
            <a:ext cx="3532350" cy="191513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Gallery Walk Expectations</a:t>
            </a:r>
            <a:endParaRPr/>
          </a:p>
        </p:txBody>
      </p:sp>
      <p:sp>
        <p:nvSpPr>
          <p:cNvPr id="107" name="Google Shape;107;p19"/>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AutoNum type="arabicPeriod"/>
            </a:pPr>
            <a:r>
              <a:rPr lang="en"/>
              <a:t>Speak in a low voice when in the hallway.</a:t>
            </a:r>
            <a:endParaRPr/>
          </a:p>
          <a:p>
            <a:pPr indent="-419100" lvl="0" marL="457200" rtl="0" algn="l">
              <a:spcBef>
                <a:spcPts val="0"/>
              </a:spcBef>
              <a:spcAft>
                <a:spcPts val="0"/>
              </a:spcAft>
              <a:buSzPts val="3000"/>
              <a:buAutoNum type="arabicPeriod"/>
            </a:pPr>
            <a:r>
              <a:rPr lang="en"/>
              <a:t>Rotate when Mrs. Garcia tells you to.</a:t>
            </a:r>
            <a:endParaRPr/>
          </a:p>
          <a:p>
            <a:pPr indent="-419100" lvl="0" marL="457200" rtl="0" algn="l">
              <a:spcBef>
                <a:spcPts val="0"/>
              </a:spcBef>
              <a:spcAft>
                <a:spcPts val="0"/>
              </a:spcAft>
              <a:buSzPts val="3000"/>
              <a:buAutoNum type="arabicPeriod"/>
            </a:pPr>
            <a:r>
              <a:rPr lang="en"/>
              <a:t>Write appropriate ideas.</a:t>
            </a:r>
            <a:endParaRPr/>
          </a:p>
          <a:p>
            <a:pPr indent="-419100" lvl="0" marL="457200" rtl="0" algn="l">
              <a:spcBef>
                <a:spcPts val="0"/>
              </a:spcBef>
              <a:spcAft>
                <a:spcPts val="0"/>
              </a:spcAft>
              <a:buSzPts val="3000"/>
              <a:buAutoNum type="arabicPeriod"/>
            </a:pPr>
            <a:r>
              <a:rPr lang="en"/>
              <a:t>Everyone participates in writing/discussing ideas.</a:t>
            </a:r>
            <a:endParaRPr/>
          </a:p>
          <a:p>
            <a:pPr indent="-419100" lvl="0" marL="457200" rtl="0" algn="l">
              <a:spcBef>
                <a:spcPts val="0"/>
              </a:spcBef>
              <a:spcAft>
                <a:spcPts val="0"/>
              </a:spcAft>
              <a:buSzPts val="3000"/>
              <a:buAutoNum type="arabicPeriod"/>
            </a:pPr>
            <a:r>
              <a:rPr lang="en"/>
              <a:t>Put a checkmark next to ideas you agree with.</a:t>
            </a:r>
            <a:endParaRPr/>
          </a:p>
        </p:txBody>
      </p:sp>
      <p:pic>
        <p:nvPicPr>
          <p:cNvPr descr="Green check mark icon. Vector. (Provided by Getty Images)" id="108" name="Google Shape;108;p19"/>
          <p:cNvPicPr preferRelativeResize="0"/>
          <p:nvPr/>
        </p:nvPicPr>
        <p:blipFill>
          <a:blip r:embed="rId3">
            <a:alphaModFix/>
          </a:blip>
          <a:stretch>
            <a:fillRect/>
          </a:stretch>
        </p:blipFill>
        <p:spPr>
          <a:xfrm>
            <a:off x="8307175" y="4056376"/>
            <a:ext cx="707400" cy="707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311700" y="186400"/>
            <a:ext cx="8520600" cy="70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Gallery Walk Topics</a:t>
            </a:r>
            <a:endParaRPr sz="4800"/>
          </a:p>
        </p:txBody>
      </p:sp>
      <p:sp>
        <p:nvSpPr>
          <p:cNvPr id="114" name="Google Shape;114;p20"/>
          <p:cNvSpPr txBox="1"/>
          <p:nvPr>
            <p:ph idx="1" type="body"/>
          </p:nvPr>
        </p:nvSpPr>
        <p:spPr>
          <a:xfrm>
            <a:off x="311700" y="1266325"/>
            <a:ext cx="8758800" cy="3877200"/>
          </a:xfrm>
          <a:prstGeom prst="rect">
            <a:avLst/>
          </a:prstGeom>
        </p:spPr>
        <p:txBody>
          <a:bodyPr anchorCtr="0" anchor="t" bIns="91425" lIns="91425" spcFirstLastPara="1" rIns="91425" wrap="square" tIns="91425">
            <a:noAutofit/>
          </a:bodyPr>
          <a:lstStyle/>
          <a:p>
            <a:pPr indent="-419100" lvl="0" marL="457200" rtl="0" algn="l">
              <a:lnSpc>
                <a:spcPct val="175000"/>
              </a:lnSpc>
              <a:spcBef>
                <a:spcPts val="1200"/>
              </a:spcBef>
              <a:spcAft>
                <a:spcPts val="0"/>
              </a:spcAft>
              <a:buSzPts val="3000"/>
              <a:buAutoNum type="arabicPeriod"/>
            </a:pPr>
            <a:r>
              <a:rPr lang="en"/>
              <a:t>Developing relationships with your tutee/mentee</a:t>
            </a:r>
            <a:endParaRPr/>
          </a:p>
          <a:p>
            <a:pPr indent="-419100" lvl="0" marL="457200" rtl="0" algn="l">
              <a:lnSpc>
                <a:spcPct val="175000"/>
              </a:lnSpc>
              <a:spcBef>
                <a:spcPts val="0"/>
              </a:spcBef>
              <a:spcAft>
                <a:spcPts val="0"/>
              </a:spcAft>
              <a:buSzPts val="3000"/>
              <a:buAutoNum type="arabicPeriod"/>
            </a:pPr>
            <a:r>
              <a:rPr lang="en"/>
              <a:t>Reading goals</a:t>
            </a:r>
            <a:endParaRPr/>
          </a:p>
          <a:p>
            <a:pPr indent="-419100" lvl="0" marL="457200" rtl="0" algn="l">
              <a:lnSpc>
                <a:spcPct val="175000"/>
              </a:lnSpc>
              <a:spcBef>
                <a:spcPts val="0"/>
              </a:spcBef>
              <a:spcAft>
                <a:spcPts val="0"/>
              </a:spcAft>
              <a:buSzPts val="3000"/>
              <a:buAutoNum type="arabicPeriod"/>
            </a:pPr>
            <a:r>
              <a:rPr lang="en"/>
              <a:t>Reading aloud</a:t>
            </a:r>
            <a:endParaRPr/>
          </a:p>
          <a:p>
            <a:pPr indent="-419100" lvl="0" marL="457200" rtl="0" algn="l">
              <a:lnSpc>
                <a:spcPct val="175000"/>
              </a:lnSpc>
              <a:spcBef>
                <a:spcPts val="0"/>
              </a:spcBef>
              <a:spcAft>
                <a:spcPts val="0"/>
              </a:spcAft>
              <a:buSzPts val="3000"/>
              <a:buAutoNum type="arabicPeriod"/>
            </a:pPr>
            <a:r>
              <a:rPr lang="en"/>
              <a:t>Discussion questions</a:t>
            </a:r>
            <a:endParaRPr/>
          </a:p>
        </p:txBody>
      </p:sp>
      <p:pic>
        <p:nvPicPr>
          <p:cNvPr descr="Person writing on whiteboard, Close-up of hand (Provided by Getty Images)" id="115" name="Google Shape;115;p20"/>
          <p:cNvPicPr preferRelativeResize="0"/>
          <p:nvPr/>
        </p:nvPicPr>
        <p:blipFill>
          <a:blip r:embed="rId3">
            <a:alphaModFix/>
          </a:blip>
          <a:stretch>
            <a:fillRect/>
          </a:stretch>
        </p:blipFill>
        <p:spPr>
          <a:xfrm>
            <a:off x="6564699" y="2260874"/>
            <a:ext cx="2267599" cy="230815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1</a:t>
            </a:r>
            <a:endParaRPr/>
          </a:p>
        </p:txBody>
      </p:sp>
      <p:sp>
        <p:nvSpPr>
          <p:cNvPr id="121" name="Google Shape;121;p21"/>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were your thoughts as you participated in this activity?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2</a:t>
            </a:r>
            <a:endParaRPr/>
          </a:p>
        </p:txBody>
      </p:sp>
      <p:sp>
        <p:nvSpPr>
          <p:cNvPr id="127" name="Google Shape;127;p22"/>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Why do you think it is important to explore ideas about reading and tutoring using the Gallery Walk activity?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3</a:t>
            </a:r>
            <a:endParaRPr/>
          </a:p>
        </p:txBody>
      </p:sp>
      <p:sp>
        <p:nvSpPr>
          <p:cNvPr id="133" name="Google Shape;133;p23"/>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t>What will you do with what you learned during this Gallery Walk Process?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